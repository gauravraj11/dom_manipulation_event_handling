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274320"/>
            <a:ext cx="329184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/ &gt;</a:t>
            </a:r>
            <a:endParaRPr lang="en-US" sz="21000" dirty="0"/>
          </a:p>
        </p:txBody>
      </p:sp>
      <p:sp>
        <p:nvSpPr>
          <p:cNvPr id="3" name="Shape 1"/>
          <p:cNvSpPr/>
          <p:nvPr/>
        </p:nvSpPr>
        <p:spPr>
          <a:xfrm>
            <a:off x="548640" y="594360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74520" y="758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Manipulation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C9E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Ground Up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2-hour session — select, read, change, create, remove, and react to elements on the page. Every slide pairs the code with exactly what shows up in the browser.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1005840" cy="0"/>
          </a:xfrm>
          <a:prstGeom prst="line">
            <a:avLst/>
          </a:prstGeom>
          <a:noFill/>
          <a:ln w="38100">
            <a:solidFill>
              <a:srgbClr val="F7D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 •  querySelector  •  addEventListener  •  createElement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parts, one continuous build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4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09928"/>
            <a:ext cx="512064" cy="51206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09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Fundamentals &amp; Selecting Elements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600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DOM actually is, and every way to grab an element from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4F9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761488"/>
            <a:ext cx="512064" cy="512064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761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Changing Content, Styles, Classes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651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text and markup, tweak inline styles, toggle classes.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4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813048"/>
            <a:ext cx="512064" cy="512064"/>
          </a:xfrm>
          <a:prstGeom prst="ellipse">
            <a:avLst/>
          </a:prstGeom>
          <a:solidFill>
            <a:srgbClr val="F58AC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813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 dirty="0"/>
          </a:p>
        </p:txBody>
      </p:sp>
      <p:sp>
        <p:nvSpPr>
          <p:cNvPr id="17" name="Text 15"/>
          <p:cNvSpPr/>
          <p:nvPr/>
        </p:nvSpPr>
        <p:spPr>
          <a:xfrm>
            <a:off x="1645920" y="37033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Inserting, Removing &amp; Traversing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3703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elements, place them precisely, delete them, and walk the tree.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4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864608"/>
            <a:ext cx="512064" cy="51206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864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1645920" y="47548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a Mini Project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4754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user interaction, then wire it all together in a working to-do list.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slide shows the exact browser outcome next to it — what the page looks like once that JavaScript has run.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20040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/ &gt;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394960" y="1371600"/>
            <a:ext cx="685800" cy="685800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Fundamentals &amp; Selecting Elements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42900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DOM actually is, and every way to grab an element from it.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BASICS · 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turns HTML into a tree of objects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 id="title"&gt;Hello&lt;/h1&gt;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 class="info"&gt;Welcome&lt;/p&gt;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10528" y="2084832"/>
            <a:ext cx="4809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10528" y="2587752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(Document Object Model) is this rendered page represented as a tree: document → html → body → h1, p. JavaScript reads and edits that tree — the browser instantly re-draws whatever changes.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ELEMENTS · 1.2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getElementById — grab one element by its unique id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heading = document.getElementById("title");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console.log(heading.textContent);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C7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"Hello"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4809744" cy="502920"/>
          </a:xfrm>
          <a:prstGeom prst="roundRect">
            <a:avLst>
              <a:gd name="adj" fmla="val 10909"/>
            </a:avLst>
          </a:prstGeom>
          <a:solidFill>
            <a:srgbClr val="FFFBE8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157984"/>
            <a:ext cx="4535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0528" y="2770632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must be unique on a page, so getElementById always returns a single element — shown highlighted here.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ELEMENTS ·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querySelector(All) — select using any CSS selector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info = document.querySelector(".info");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document.querySelectorAll("li");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console.log(items.length);  // 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4809744" cy="420624"/>
          </a:xfrm>
          <a:prstGeom prst="roundRect">
            <a:avLst>
              <a:gd name="adj" fmla="val 13043"/>
            </a:avLst>
          </a:prstGeom>
          <a:solidFill>
            <a:srgbClr val="FFFBE8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0256" y="2167128"/>
            <a:ext cx="4590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(.info)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64808" y="2697480"/>
            <a:ext cx="4901184" cy="329184"/>
          </a:xfrm>
          <a:prstGeom prst="roundRect">
            <a:avLst>
              <a:gd name="adj" fmla="val 13889"/>
            </a:avLst>
          </a:prstGeom>
          <a:solidFill>
            <a:srgbClr val="EEF1FF"/>
          </a:solidFill>
          <a:ln w="15875">
            <a:solidFill>
              <a:srgbClr val="6C8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74536" y="2834640"/>
            <a:ext cx="54864" cy="54864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39128" y="2715768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64808" y="3081528"/>
            <a:ext cx="4901184" cy="329184"/>
          </a:xfrm>
          <a:prstGeom prst="roundRect">
            <a:avLst>
              <a:gd name="adj" fmla="val 13889"/>
            </a:avLst>
          </a:prstGeom>
          <a:solidFill>
            <a:srgbClr val="EEF1FF"/>
          </a:solidFill>
          <a:ln w="15875">
            <a:solidFill>
              <a:srgbClr val="6C8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4536" y="3218688"/>
            <a:ext cx="54864" cy="54864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39128" y="3099816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64808" y="3465576"/>
            <a:ext cx="4901184" cy="329184"/>
          </a:xfrm>
          <a:prstGeom prst="roundRect">
            <a:avLst>
              <a:gd name="adj" fmla="val 13889"/>
            </a:avLst>
          </a:prstGeom>
          <a:solidFill>
            <a:srgbClr val="EEF1FF"/>
          </a:solidFill>
          <a:ln w="15875">
            <a:solidFill>
              <a:srgbClr val="6C8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74536" y="3602736"/>
            <a:ext cx="54864" cy="54864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39128" y="348386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returns the first match; querySelectorAll returns every match as a static NodeList — all three li's are highlighted.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ELEMENTS · 1.4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getElementsBy... — older, but still returns a live collection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cards = document.getElementsByClassName("card");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paras = document.getElementsByTagName("p");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console.log(cards.length);  // 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1511808" cy="82296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9050">
            <a:solidFill>
              <a:srgbClr val="5FD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386584"/>
            <a:ext cx="1511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59496" y="2084832"/>
            <a:ext cx="1511808" cy="82296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9050">
            <a:solidFill>
              <a:srgbClr val="5FD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9496" y="2386584"/>
            <a:ext cx="1511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08464" y="2084832"/>
            <a:ext cx="1511808" cy="82296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9050">
            <a:solidFill>
              <a:srgbClr val="5FD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8464" y="2386584"/>
            <a:ext cx="1511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0528" y="3136392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text on the page — also selected.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querySelectorAll, this collection stays “live” — it auto-updates if matching elements are added or removed later.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20040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/ &gt;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394960" y="1371600"/>
            <a:ext cx="685800" cy="68580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Changing Content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42900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text and markup, tweak inline styles, toggle classes.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CONTENT · 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textContent vs. innerText vs. innerHTML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id="box"&gt;&lt;b&gt;Bold&lt;/b&gt; text&lt;/div&gt;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box = document.getElementById("box");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console.log(box.textContent);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console.log(box.innerText);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console.log(box.innerHTML);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4809744" cy="457200"/>
          </a:xfrm>
          <a:prstGeom prst="roundRect">
            <a:avLst>
              <a:gd name="adj" fmla="val 12000"/>
            </a:avLst>
          </a:prstGeom>
          <a:solidFill>
            <a:srgbClr val="F4F4F9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176272"/>
            <a:ext cx="4535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10528" y="2706624"/>
            <a:ext cx="4809744" cy="1234440"/>
          </a:xfrm>
          <a:prstGeom prst="roundRect">
            <a:avLst>
              <a:gd name="adj" fmla="val 3704"/>
            </a:avLst>
          </a:prstGeom>
          <a:solidFill>
            <a:srgbClr val="17182B"/>
          </a:solidFill>
          <a:ln/>
        </p:spPr>
      </p:sp>
      <p:sp>
        <p:nvSpPr>
          <p:cNvPr id="19" name="Text 17"/>
          <p:cNvSpPr/>
          <p:nvPr/>
        </p:nvSpPr>
        <p:spPr>
          <a:xfrm>
            <a:off x="6638544" y="2761488"/>
            <a:ext cx="4553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638544" y="2962656"/>
            <a:ext cx="45537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 → "Bold text"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innerText  → "Bold text"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  → "&lt;b&gt;Bold&lt;/b&gt; text"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and innerText both return plain text; only innerHTML returns (and lets you write) raw markup tags.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CONTENT · 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.textContent replaces the text safely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msg = document.querySelector("#msg");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msg.textContent = "Updated by JavaScript!";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4809744" cy="502920"/>
          </a:xfrm>
          <a:prstGeom prst="roundRect">
            <a:avLst>
              <a:gd name="adj" fmla="val 10909"/>
            </a:avLst>
          </a:prstGeom>
          <a:solidFill>
            <a:srgbClr val="EAF7F0"/>
          </a:solidFill>
          <a:ln w="19050">
            <a:solidFill>
              <a:srgbClr val="5FD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194560"/>
            <a:ext cx="4535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by JavaScript!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paragraph #msg held before is gone — textContent always treats its value as plain text, never as HTML.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CONTENT · 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.innerHTML inserts real markup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box = document.getElementById("box");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box.innerHTML = "&lt;strong&gt;New&lt;/strong&gt; content &lt;em&gt;here&lt;/em&gt;";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4809744" cy="502920"/>
          </a:xfrm>
          <a:prstGeom prst="roundRect">
            <a:avLst>
              <a:gd name="adj" fmla="val 10909"/>
            </a:avLst>
          </a:prstGeom>
          <a:solidFill>
            <a:srgbClr val="EEF1FF"/>
          </a:solidFill>
          <a:ln w="19050">
            <a:solidFill>
              <a:srgbClr val="6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194560"/>
            <a:ext cx="4535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content </a:t>
            </a:r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&lt;strong&gt; and &lt;em&gt; tags are parsed and rendered, not shown as literal text — that's the key difference from textContent.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· 2.4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getAttribute / setAttribute / removeAttribute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link = document.querySelector("a");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link.setAttribute("href", "https://example.com");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document.querySelector("button");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btn.removeAttribute("disabled");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10528" y="2084832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Site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10528" y="2587752"/>
            <a:ext cx="1645920" cy="384048"/>
          </a:xfrm>
          <a:prstGeom prst="roundRect">
            <a:avLst>
              <a:gd name="adj" fmla="val 13095"/>
            </a:avLst>
          </a:prstGeom>
          <a:solidFill>
            <a:srgbClr val="5FD3A8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25877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0528" y="309067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button re-enabled — disabled attribute removed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setAttribute adds or overwrites an attribute; removeAttribute strips it entirely — here it turns a greyed-out button back 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· 2.5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element.style — setting inline CSS directly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 = document.querySelector(".card");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card.style.backgroundColor = "#F7DF1E";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card.style.padding = "16px";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card.style.borderRadius = "8px";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67728" y="2267712"/>
            <a:ext cx="3895344" cy="914400"/>
          </a:xfrm>
          <a:prstGeom prst="roundRect">
            <a:avLst>
              <a:gd name="adj" fmla="val 9000"/>
            </a:avLst>
          </a:prstGeom>
          <a:solidFill>
            <a:srgbClr val="F7DF1E"/>
          </a:solidFill>
          <a:ln w="12700">
            <a:solidFill>
              <a:srgbClr val="D8C6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258775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set this way are applied directly to the element (style="..." in the markup) and immediately override any CSS rules.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· 2.6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classList.add / remove / toggle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alertBox = document.querySelector(".alert");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alertBox.classList.add("active");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alertBox.classList.toggle("hidden");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2267712" cy="685800"/>
          </a:xfrm>
          <a:prstGeom prst="roundRect">
            <a:avLst>
              <a:gd name="adj" fmla="val 9333"/>
            </a:avLst>
          </a:prstGeom>
          <a:solidFill>
            <a:srgbClr val="F4F4F9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139696"/>
            <a:ext cx="2267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10528" y="241401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alert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2423160"/>
            <a:ext cx="182880" cy="0"/>
          </a:xfrm>
          <a:prstGeom prst="line">
            <a:avLst/>
          </a:prstGeom>
          <a:noFill/>
          <a:ln w="19050">
            <a:solidFill>
              <a:srgbClr val="6C8C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0" y="2084832"/>
            <a:ext cx="2267712" cy="685800"/>
          </a:xfrm>
          <a:prstGeom prst="roundRect">
            <a:avLst>
              <a:gd name="adj" fmla="val 9333"/>
            </a:avLst>
          </a:prstGeom>
          <a:solidFill>
            <a:srgbClr val="EAF7F0"/>
          </a:solidFill>
          <a:ln w="19050">
            <a:solidFill>
              <a:srgbClr val="5FD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139696"/>
            <a:ext cx="2267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52560" y="241401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.active alert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turns a class on, remove() turns it off, toggle() flips it — CSS handles the actual visual style for that class.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20040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/ &gt;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394960" y="1371600"/>
            <a:ext cx="685800" cy="685800"/>
          </a:xfrm>
          <a:prstGeom prst="ellipse">
            <a:avLst/>
          </a:prstGeom>
          <a:solidFill>
            <a:srgbClr val="F58AC0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Creating, Inserting, Removing &amp; Traversing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42900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elements, place them precisely, delete them, and walk the tree.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ELEMENTS · 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createElement + appendChild — build, then attach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 = document.createElement("li");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li.textContent = "New item";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document.querySelector("ul").appendChild(li);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28816" y="2176272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17" name="Text 15"/>
          <p:cNvSpPr/>
          <p:nvPr/>
        </p:nvSpPr>
        <p:spPr>
          <a:xfrm>
            <a:off x="6693408" y="20574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28816" y="2560320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2441448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28816" y="2944368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2825496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19088" y="3191256"/>
            <a:ext cx="4992624" cy="329184"/>
          </a:xfrm>
          <a:prstGeom prst="roundRect">
            <a:avLst>
              <a:gd name="adj" fmla="val 13889"/>
            </a:avLst>
          </a:prstGeom>
          <a:solidFill>
            <a:srgbClr val="EAF7F0"/>
          </a:solidFill>
          <a:ln w="15875">
            <a:solidFill>
              <a:srgbClr val="5FD3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28816" y="3328416"/>
            <a:ext cx="54864" cy="5486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24" name="Text 22"/>
          <p:cNvSpPr/>
          <p:nvPr/>
        </p:nvSpPr>
        <p:spPr>
          <a:xfrm>
            <a:off x="6693408" y="3209544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634472" y="320954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 only builds the node in memory — nothing appears on the page until appendChild attaches it to the tree.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ELEMENTS ·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/ prepend — more flexible than appendChild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list = document.querySelector("ul");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 = document.createElement("li");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li.textContent = "First item";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list.prepend(li);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list.append("(3 items total)");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19088" y="2039112"/>
            <a:ext cx="4992624" cy="329184"/>
          </a:xfrm>
          <a:prstGeom prst="roundRect">
            <a:avLst>
              <a:gd name="adj" fmla="val 13889"/>
            </a:avLst>
          </a:prstGeom>
          <a:solidFill>
            <a:srgbClr val="EAF7F0"/>
          </a:solidFill>
          <a:ln w="15875">
            <a:solidFill>
              <a:srgbClr val="5FD3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2176272"/>
            <a:ext cx="54864" cy="5486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20574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34472" y="20574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28816" y="2560320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2441448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28816" y="2944368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23" name="Text 21"/>
          <p:cNvSpPr/>
          <p:nvPr/>
        </p:nvSpPr>
        <p:spPr>
          <a:xfrm>
            <a:off x="6693408" y="2825496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93408" y="3236976"/>
            <a:ext cx="4626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items total)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prepend() inserts at the start instead of the end; both append() and prepend() also accept plain strings, not just elements.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ELEMENTS · 3.3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insertAdjacentHTML — four precise insertion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box.insertAdjacentHTML(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"beforeend",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"&lt;p&gt;Inserted!&lt;/p&gt;"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59168" y="2112264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beforebegin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59168" y="2404872"/>
            <a:ext cx="3712464" cy="1371600"/>
          </a:xfrm>
          <a:prstGeom prst="roundRect">
            <a:avLst>
              <a:gd name="adj" fmla="val 4000"/>
            </a:avLst>
          </a:prstGeom>
          <a:solidFill>
            <a:srgbClr val="F4F4F9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2459736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&lt;box&gt;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96328" y="2679192"/>
            <a:ext cx="34381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afterbegin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96328" y="3273552"/>
            <a:ext cx="34381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beforeend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50608" y="3538728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&lt;/box&gt;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59168" y="381304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afterend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“beforeend” (highlighted) inserts the new markup as the last thing inside the element, right before its closing tag.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ELEMENTS · 3.4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remove() — the modern, one-line way to delete a node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 = document.querySelector("#item2");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item.remove();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C7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older equivalent: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C7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item.parentElement.removeChild(item);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28816" y="2176272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17" name="Text 15"/>
          <p:cNvSpPr/>
          <p:nvPr/>
        </p:nvSpPr>
        <p:spPr>
          <a:xfrm>
            <a:off x="6693408" y="20574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28816" y="2633472"/>
            <a:ext cx="54864" cy="5486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25146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B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— removed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28816" y="3090672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29718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removed, #item2 (“Eggs”) is gone from both the page and the DOM tree — it isn't just hidden.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THE DOM · 3.5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parentElement &amp; children — moving up and 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list = document.querySelector("ul");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console.log(list.parentElement);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console.log(list.children);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C7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HTMLCollection(3) [li, li, li]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4809744" cy="3630168"/>
          </a:xfrm>
          <a:prstGeom prst="roundRect">
            <a:avLst>
              <a:gd name="adj" fmla="val 1763"/>
            </a:avLst>
          </a:prstGeom>
          <a:solidFill>
            <a:srgbClr val="FFFBE8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157984"/>
            <a:ext cx="4535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div.container  (parentElement)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39128" y="2450592"/>
            <a:ext cx="4352544" cy="3127248"/>
          </a:xfrm>
          <a:prstGeom prst="roundRect">
            <a:avLst>
              <a:gd name="adj" fmla="val 1754"/>
            </a:avLst>
          </a:prstGeom>
          <a:solidFill>
            <a:srgbClr val="EEF1FF"/>
          </a:solidFill>
          <a:ln w="15875">
            <a:solidFill>
              <a:srgbClr val="6C8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94576" y="2706624"/>
            <a:ext cx="54864" cy="54864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7059168" y="2587752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94576" y="3035808"/>
            <a:ext cx="54864" cy="54864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7059168" y="2916936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94576" y="3364992"/>
            <a:ext cx="54864" cy="54864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7059168" y="3246120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 box is the ul's parent; the blue-bordered li's are its children — both relationships read directly off the tree.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THE DOM · 3.6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nextElementSibling &amp; previousElementSibling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second = document.querySelector("#second");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prev = second.previousElementSibling;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next = second.nextElementSibling;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console.log(prev.textContent);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console.log(next.textContent);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19088" y="2039112"/>
            <a:ext cx="4992624" cy="329184"/>
          </a:xfrm>
          <a:prstGeom prst="roundRect">
            <a:avLst>
              <a:gd name="adj" fmla="val 13889"/>
            </a:avLst>
          </a:prstGeom>
          <a:solidFill>
            <a:srgbClr val="EEF1FF"/>
          </a:solidFill>
          <a:ln w="15875">
            <a:solidFill>
              <a:srgbClr val="6C8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2176272"/>
            <a:ext cx="54864" cy="54864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20574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 ← previous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19088" y="2496312"/>
            <a:ext cx="4992624" cy="329184"/>
          </a:xfrm>
          <a:prstGeom prst="roundRect">
            <a:avLst>
              <a:gd name="adj" fmla="val 13889"/>
            </a:avLst>
          </a:prstGeom>
          <a:solidFill>
            <a:srgbClr val="FFFBE8"/>
          </a:solidFill>
          <a:ln w="15875">
            <a:solidFill>
              <a:srgbClr val="F7DF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2633472"/>
            <a:ext cx="54864" cy="5486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25146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 (#second)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19088" y="2953512"/>
            <a:ext cx="4992624" cy="329184"/>
          </a:xfrm>
          <a:prstGeom prst="roundRect">
            <a:avLst>
              <a:gd name="adj" fmla="val 13889"/>
            </a:avLst>
          </a:prstGeom>
          <a:solidFill>
            <a:srgbClr val="EAF7F0"/>
          </a:solidFill>
          <a:ln w="15875">
            <a:solidFill>
              <a:srgbClr val="5FD3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28816" y="3090672"/>
            <a:ext cx="54864" cy="5486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24" name="Text 22"/>
          <p:cNvSpPr/>
          <p:nvPr/>
        </p:nvSpPr>
        <p:spPr>
          <a:xfrm>
            <a:off x="6693408" y="29718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 → next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only ever move to adjacent element nodes at the same level — they skip over stray whitespace or text nodes in between.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20040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/ &gt;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394960" y="1371600"/>
            <a:ext cx="685800" cy="6858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a Mini Project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42900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user interaction, then wire it all together in a working to-do list.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4.1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addEventListener — run code in response to interaction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document.querySelector("#btn");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btn.addEventListener("click", () =&gt; {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btn.textContent = "Clicked!";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67728" y="2359152"/>
            <a:ext cx="1737360" cy="457200"/>
          </a:xfrm>
          <a:prstGeom prst="roundRect">
            <a:avLst>
              <a:gd name="adj" fmla="val 11000"/>
            </a:avLst>
          </a:prstGeom>
          <a:solidFill>
            <a:srgbClr val="5FD3A8"/>
          </a:solidFill>
          <a:ln/>
        </p:spPr>
      </p:sp>
      <p:sp>
        <p:nvSpPr>
          <p:cNvPr id="17" name="Text 15"/>
          <p:cNvSpPr/>
          <p:nvPr/>
        </p:nvSpPr>
        <p:spPr>
          <a:xfrm>
            <a:off x="6967728" y="23591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Clicked!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42248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0528" y="304495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after the button has been clicked once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callback doesn't run when the listener is attached — only later, each time the actual click event fires.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4.2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 object — details about what just happened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document.addEventListener("click", (e) =&gt; {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console.log(e.target);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console.log(e.type);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67728" y="2084832"/>
            <a:ext cx="1645920" cy="411480"/>
          </a:xfrm>
          <a:prstGeom prst="roundRect">
            <a:avLst>
              <a:gd name="adj" fmla="val 12222"/>
            </a:avLst>
          </a:prstGeom>
          <a:solidFill>
            <a:srgbClr val="6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6967728" y="20848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59368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10528" y="2724912"/>
            <a:ext cx="4809744" cy="1051560"/>
          </a:xfrm>
          <a:prstGeom prst="roundRect">
            <a:avLst>
              <a:gd name="adj" fmla="val 4348"/>
            </a:avLst>
          </a:prstGeom>
          <a:solidFill>
            <a:srgbClr val="17182B"/>
          </a:solidFill>
          <a:ln/>
        </p:spPr>
      </p:sp>
      <p:sp>
        <p:nvSpPr>
          <p:cNvPr id="20" name="Text 18"/>
          <p:cNvSpPr/>
          <p:nvPr/>
        </p:nvSpPr>
        <p:spPr>
          <a:xfrm>
            <a:off x="6638544" y="2779776"/>
            <a:ext cx="4553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638544" y="2980944"/>
            <a:ext cx="45537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e.target → &lt;button id="btn"&gt;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e.type   → "click"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e.target is the exact element the user interacted with; e.type names the event — both come free with every event handler.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e.preventDefault() — stop the browser's default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form.addEventListener("submit", (e) =&gt; {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console.log("Form captured, no reload");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480974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9168" y="2542032"/>
            <a:ext cx="1371600" cy="384048"/>
          </a:xfrm>
          <a:prstGeom prst="roundRect">
            <a:avLst>
              <a:gd name="adj" fmla="val 13095"/>
            </a:avLst>
          </a:prstGeom>
          <a:solidFill>
            <a:srgbClr val="6C8C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25420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10528" y="3090672"/>
            <a:ext cx="4809744" cy="777240"/>
          </a:xfrm>
          <a:prstGeom prst="roundRect">
            <a:avLst>
              <a:gd name="adj" fmla="val 5882"/>
            </a:avLst>
          </a:prstGeom>
          <a:solidFill>
            <a:srgbClr val="17182B"/>
          </a:solidFill>
          <a:ln/>
        </p:spPr>
      </p:sp>
      <p:sp>
        <p:nvSpPr>
          <p:cNvPr id="20" name="Text 18"/>
          <p:cNvSpPr/>
          <p:nvPr/>
        </p:nvSpPr>
        <p:spPr>
          <a:xfrm>
            <a:off x="6638544" y="3145536"/>
            <a:ext cx="4553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638544" y="3346704"/>
            <a:ext cx="4553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captured, no reload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preventDefault(), submitting a form reloads the page by default — this stops that so your JavaScript can handle it instead.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4.4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delegation — one listener, many elements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list = document.querySelector("ul");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list.addEventListener("click", (e) =&gt; {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(e.target.tagName === "LI") {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e.target.classList.toggle("done");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19088" y="2039112"/>
            <a:ext cx="4992624" cy="329184"/>
          </a:xfrm>
          <a:prstGeom prst="roundRect">
            <a:avLst>
              <a:gd name="adj" fmla="val 13889"/>
            </a:avLst>
          </a:prstGeom>
          <a:solidFill>
            <a:srgbClr val="EAF7F0"/>
          </a:solidFill>
          <a:ln w="15875">
            <a:solidFill>
              <a:srgbClr val="5FD3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2176272"/>
            <a:ext cx="54864" cy="5486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20574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9C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milk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34472" y="20574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28816" y="2633472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25146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book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28816" y="3090672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23" name="Text 21"/>
          <p:cNvSpPr/>
          <p:nvPr/>
        </p:nvSpPr>
        <p:spPr>
          <a:xfrm>
            <a:off x="6693408" y="2971800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dog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listener lives on the parent &lt;ul&gt;, not on each &lt;li&gt; — it even catches clicks on li's added to the list later.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· TO-DO LIST · 4.5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adding a new to-do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addBtn.addEventListener("click", () =&gt; {
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 = document.createElement("li");
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li.textContent = input.value;
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list.appendChild(li);
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input.value = "";
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084832"/>
            <a:ext cx="38953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0256" y="2084832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dog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497312" y="2084832"/>
            <a:ext cx="822960" cy="365760"/>
          </a:xfrm>
          <a:prstGeom prst="roundRect">
            <a:avLst>
              <a:gd name="adj" fmla="val 13750"/>
            </a:avLst>
          </a:prstGeom>
          <a:solidFill>
            <a:srgbClr val="6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497312" y="20848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28816" y="2743200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2624328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milk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28816" y="3127248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23" name="Text 21"/>
          <p:cNvSpPr/>
          <p:nvPr/>
        </p:nvSpPr>
        <p:spPr>
          <a:xfrm>
            <a:off x="6693408" y="3008376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book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19088" y="3374136"/>
            <a:ext cx="4992624" cy="329184"/>
          </a:xfrm>
          <a:prstGeom prst="roundRect">
            <a:avLst>
              <a:gd name="adj" fmla="val 13889"/>
            </a:avLst>
          </a:prstGeom>
          <a:solidFill>
            <a:srgbClr val="EAF7F0"/>
          </a:solidFill>
          <a:ln w="15875">
            <a:solidFill>
              <a:srgbClr val="5FD3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28816" y="3511296"/>
            <a:ext cx="54864" cy="5486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26" name="Text 24"/>
          <p:cNvSpPr/>
          <p:nvPr/>
        </p:nvSpPr>
        <p:spPr>
          <a:xfrm>
            <a:off x="6693408" y="3392424"/>
            <a:ext cx="4489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dog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634472" y="339242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input.value reads whatever the user typed; the new li is built and appended, then the input is cleared for the next entry.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· TO-DO LIST · 4.6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deleting a to-do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82496"/>
            <a:ext cx="49194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list.addEventListener("click", (e) =&gt; {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(e.target.classList.contains("delete")) {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e.target.parentElement.remove();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28816" y="2176272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17" name="Text 15"/>
          <p:cNvSpPr/>
          <p:nvPr/>
        </p:nvSpPr>
        <p:spPr>
          <a:xfrm>
            <a:off x="6693408" y="2057400"/>
            <a:ext cx="4123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milk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000232" y="206654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28816" y="2596896"/>
            <a:ext cx="54864" cy="54864"/>
          </a:xfrm>
          <a:prstGeom prst="ellipse">
            <a:avLst/>
          </a:prstGeom>
          <a:solidFill>
            <a:srgbClr val="9C9EC2"/>
          </a:solidFill>
          <a:ln/>
        </p:spPr>
      </p:sp>
      <p:sp>
        <p:nvSpPr>
          <p:cNvPr id="20" name="Text 18"/>
          <p:cNvSpPr/>
          <p:nvPr/>
        </p:nvSpPr>
        <p:spPr>
          <a:xfrm>
            <a:off x="6693408" y="2478024"/>
            <a:ext cx="4123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book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000232" y="248716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28816" y="3017520"/>
            <a:ext cx="54864" cy="5486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23" name="Text 21"/>
          <p:cNvSpPr/>
          <p:nvPr/>
        </p:nvSpPr>
        <p:spPr>
          <a:xfrm>
            <a:off x="6693408" y="2898648"/>
            <a:ext cx="4123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B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dog — removed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has its own ✕ button; clicking it removes that item's whole parent &lt;li&gt;, taking the delete button along with it.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DOM toolkit,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2A2B4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4248"/>
            <a:ext cx="640080" cy="640080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Read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783080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getElementById, querySelector(All), and the getElementsBy... family — then read with textContent / innerHTML.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2A2B40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30168"/>
            <a:ext cx="640080" cy="64008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30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91640" y="34290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&amp; Build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3429000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content, attributes, styles and classes; create, insert, and remove elements anywhere in the tree.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2A2B40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276088"/>
            <a:ext cx="640080" cy="640080"/>
          </a:xfrm>
          <a:prstGeom prst="ellipse">
            <a:avLst/>
          </a:prstGeom>
          <a:solidFill>
            <a:srgbClr val="F58AC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760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691640" y="50749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5074920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plus the event object turns a static page into something users can actually interact with.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11–12  ·  DOM MANIPULATION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274320"/>
            <a:ext cx="329184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/ &gt;</a:t>
            </a:r>
            <a:endParaRPr lang="en-US" sz="21000" dirty="0"/>
          </a:p>
        </p:txBody>
      </p:sp>
      <p:sp>
        <p:nvSpPr>
          <p:cNvPr id="3" name="Shape 1"/>
          <p:cNvSpPr/>
          <p:nvPr/>
        </p:nvSpPr>
        <p:spPr>
          <a:xfrm>
            <a:off x="5394960" y="1463040"/>
            <a:ext cx="640080" cy="64008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go build something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DevTools, pick any webpage, and try selecting, changing, and removing elements live.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console.log("Lecture 11–12 complete");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2026-08-18T11:15:31Z</dcterms:created>
  <dcterms:modified xsi:type="dcterms:W3CDTF">2026-08-18T11:15:31Z</dcterms:modified>
</cp:coreProperties>
</file>